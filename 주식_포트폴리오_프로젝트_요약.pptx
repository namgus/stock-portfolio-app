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99"/>
                </a:solidFill>
              </a:defRPr>
            </a:pPr>
            <a:r>
              <a:t>AI 기반 주식 포트폴리오 관리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Modern Portfolio Theory + Hybrid AI 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57FF"/>
                </a:solidFill>
              </a:defRPr>
            </a:pPr>
            <a:r>
              <a:t>🌐 https://stock-portfolio-app-olive.vercel.app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시스템 아키텍처 및 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57600" cy="2103120"/>
          </a:xfrm>
          <a:prstGeom prst="rect">
            <a:avLst/>
          </a:prstGeom>
          <a:solidFill>
            <a:srgbClr val="E6F2FF"/>
          </a:solidFill>
          <a:ln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3399"/>
                </a:solidFill>
              </a:defRPr>
            </a:pPr>
            <a:r>
              <a:t>Frontend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React 18 + Vite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TailwindCSS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Recharts (시각화)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Lucide Icons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배포: Vercel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097280"/>
            <a:ext cx="3657600" cy="2103120"/>
          </a:xfrm>
          <a:prstGeom prst="rect">
            <a:avLst/>
          </a:prstGeom>
          <a:solidFill>
            <a:srgbClr val="FFF5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CC6600"/>
                </a:solidFill>
              </a:defRPr>
            </a:pPr>
            <a:r>
              <a:t>Backend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Flask (Python)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Flask-CORS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pykrx (한국 주식 데이터)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Gunicorn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배포: Railway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3657600" cy="2560320"/>
          </a:xfrm>
          <a:prstGeom prst="rect">
            <a:avLst/>
          </a:prstGeom>
          <a:solidFill>
            <a:srgbClr val="F0FFF0"/>
          </a:solidFill>
          <a:ln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6633"/>
                </a:solidFill>
              </a:defRPr>
            </a:pPr>
            <a:r>
              <a:t>Data Science &amp; AI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NumPy / Pandas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scikit-learn (MPT 최적화)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BeautifulSoup4 (뉴스 크롤링)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Content-Based Filtering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Collaborative Filtering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Hybrid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474720"/>
            <a:ext cx="3657600" cy="2560320"/>
          </a:xfrm>
          <a:prstGeom prst="rect">
            <a:avLst/>
          </a:prstGeom>
          <a:solidFill>
            <a:srgbClr val="FFF0F5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990033"/>
                </a:solidFill>
              </a:defRPr>
            </a:pPr>
            <a:r>
              <a:t>DevOps &amp; Deployment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Git / GitHub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GitHub Actions (CI/CD)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Vercel (Frontend)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Railway (Backend)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환경변수 관리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CORS 설정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핵심 기능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E6F2FF"/>
          </a:solidFill>
          <a:ln>
            <a:solidFill>
              <a:srgbClr val="00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003399"/>
                </a:solidFill>
              </a:defRPr>
            </a:pPr>
            <a:r>
              <a:t>1. 포트폴리오 관리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실시간 한국 주식 데이터 (pykrx)</a:t>
            </a:r>
          </a:p>
          <a:p>
            <a:pPr>
              <a:defRPr sz="1300"/>
            </a:pPr>
            <a:r>
              <a:t>• 수익률 계산 및 시각화</a:t>
            </a:r>
          </a:p>
          <a:p>
            <a:pPr>
              <a:defRPr sz="1300"/>
            </a:pPr>
            <a:r>
              <a:t>• 자동 새로고침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097280"/>
            <a:ext cx="4114800" cy="1645920"/>
          </a:xfrm>
          <a:prstGeom prst="rect">
            <a:avLst/>
          </a:prstGeom>
          <a:solidFill>
            <a:srgbClr val="FFF5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CC6600"/>
                </a:solidFill>
              </a:defRPr>
            </a:pPr>
            <a:r>
              <a:t>2. MPT 최적화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효율적 투자선 계산</a:t>
            </a:r>
          </a:p>
          <a:p>
            <a:pPr>
              <a:defRPr sz="1300"/>
            </a:pPr>
            <a:r>
              <a:t>• 최적 포트폴리오 추천</a:t>
            </a:r>
          </a:p>
          <a:p>
            <a:pPr>
              <a:defRPr sz="1300"/>
            </a:pPr>
            <a:r>
              <a:t>• 리스크-수익률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017520"/>
            <a:ext cx="4114800" cy="1645920"/>
          </a:xfrm>
          <a:prstGeom prst="rect">
            <a:avLst/>
          </a:prstGeom>
          <a:solidFill>
            <a:srgbClr val="F0FFF0"/>
          </a:solidFill>
          <a:ln>
            <a:solidFill>
              <a:srgbClr val="009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006633"/>
                </a:solidFill>
              </a:defRPr>
            </a:pPr>
            <a:r>
              <a:t>3. 백테스팅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과거 데이터 기반 시뮬레이션</a:t>
            </a:r>
          </a:p>
          <a:p>
            <a:pPr>
              <a:defRPr sz="1300"/>
            </a:pPr>
            <a:r>
              <a:t>• 전략별 성과 비교</a:t>
            </a:r>
          </a:p>
          <a:p>
            <a:pPr>
              <a:defRPr sz="1300"/>
            </a:pPr>
            <a:r>
              <a:t>• 리스크 지표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017520"/>
            <a:ext cx="4114800" cy="1645920"/>
          </a:xfrm>
          <a:prstGeom prst="rect">
            <a:avLst/>
          </a:prstGeom>
          <a:solidFill>
            <a:srgbClr val="FFF0F5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990033"/>
                </a:solidFill>
              </a:defRPr>
            </a:pPr>
            <a:r>
              <a:t>4. 뉴스 감성 분석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• 실시간 뉴스 크롤링</a:t>
            </a:r>
          </a:p>
          <a:p>
            <a:pPr>
              <a:defRPr sz="1300"/>
            </a:pPr>
            <a:r>
              <a:t>• 긍정/부정 감성 분석</a:t>
            </a:r>
          </a:p>
          <a:p>
            <a:pPr>
              <a:defRPr sz="1300"/>
            </a:pPr>
            <a:r>
              <a:t>• 종목별 뉴스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937760"/>
            <a:ext cx="8229600" cy="1371600"/>
          </a:xfrm>
          <a:prstGeom prst="rect">
            <a:avLst/>
          </a:prstGeom>
          <a:solidFill>
            <a:srgbClr val="F8F3FF"/>
          </a:solidFill>
          <a:ln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4B0082"/>
                </a:solidFill>
              </a:defRPr>
            </a:pPr>
            <a:r>
              <a:t>5. 하이브리드 AI 추천 시스템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• Content-Based: 재무지표 기반 유사도 분석  |  • Collaborative: 사용자 행동 패턴 학습  |  • 가중치 조합으로 최적 추천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